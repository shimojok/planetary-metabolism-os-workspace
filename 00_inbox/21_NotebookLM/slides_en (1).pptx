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D5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PAPER  ·  MBT55  · 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6858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Comprehensive Overview of
</a:t>
            </a:r>
            <a:pPr indent="0" marL="0">
              <a:buNone/>
            </a:pPr>
            <a:r>
              <a:rPr lang="en-US" sz="3800" b="1" dirty="0">
                <a:solidFill>
                  <a:srgbClr val="7A9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Climate Change</a:t>
            </a:r>
            <a:endParaRPr lang="en-US" sz="30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Scientific &amp; Applied</a:t>
            </a:r>
            <a:endParaRPr lang="en-US" sz="30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Potential of MBT55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3703320"/>
            <a:ext cx="5943600" cy="73152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703320"/>
            <a:ext cx="5943600" cy="7315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Microbial BioTransformation 55 — Reconnecting Nature's Metabolic Systems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132320" y="1097280"/>
            <a:ext cx="1828800" cy="1828800"/>
          </a:xfrm>
          <a:prstGeom prst="ellipse">
            <a:avLst/>
          </a:prstGeom>
          <a:solidFill>
            <a:srgbClr val="4A6741">
              <a:alpha val="30000"/>
            </a:srgbClr>
          </a:solidFill>
          <a:ln w="12700">
            <a:solidFill>
              <a:srgbClr val="7A9E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1371600"/>
            <a:ext cx="1280160" cy="1280160"/>
          </a:xfrm>
          <a:prstGeom prst="ellipse">
            <a:avLst/>
          </a:prstGeom>
          <a:solidFill>
            <a:srgbClr val="7A9E71">
              <a:alpha val="40000"/>
            </a:srgbClr>
          </a:solidFill>
          <a:ln w="6350">
            <a:solidFill>
              <a:srgbClr val="7A9E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MBT55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 </a:t>
            </a:r>
            <a:pPr indent="0" marL="0"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System Crisis &amp; Introduction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 </a:t>
            </a:r>
            <a:pPr indent="0" marL="0"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Cycle Reconstruction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 </a:t>
            </a:r>
            <a:pPr indent="0" marL="0"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 Sustainable Cycle Model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 </a:t>
            </a:r>
            <a:pPr indent="0" marL="0"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Evaluation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 </a:t>
            </a:r>
            <a:pPr indent="0" marL="0"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Proposals &amp; Roadmap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Earth System Crisis &amp; Redefining Circular Structures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23360" cy="123444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"Metabolic Crisis"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4023360" cy="88696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change, soil degradation, food security, and health disparities must be understood as one integrated crisis — not separate issues.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297680" cy="123444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822960"/>
            <a:ext cx="4297680" cy="34747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MBT55 Solution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170432"/>
            <a:ext cx="4297680" cy="88696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Reconnects carbon, nitrogen, phosphorus &amp; water cycles as an Ecological Hyper-cycle — restoring the biosphere's self-repair capabilities.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28346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2860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Reconnection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2788920"/>
            <a:ext cx="283464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electron, elemental &amp; metabolic pathways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2286000"/>
            <a:ext cx="28346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46120" y="22860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Reconnection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2788920"/>
            <a:ext cx="283464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agriculture, waste, health &amp; education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2286000"/>
            <a:ext cx="28346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22860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Reconnection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788920"/>
            <a:ext cx="283464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carbon credits creation &amp; cost reduction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8595360" cy="777240"/>
          </a:xfrm>
          <a:prstGeom prst="rect">
            <a:avLst/>
          </a:prstGeom>
          <a:solidFill>
            <a:srgbClr val="E8E2D6"/>
          </a:solidFill>
          <a:ln w="12700">
            <a:solidFill>
              <a:srgbClr val="E8E2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70332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 </a:t>
            </a:r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GHG emissions from waste &amp; food loss   </a:t>
            </a:r>
            <a:pPr algn="ctr"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9.7B  </a:t>
            </a:r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population projected by 2050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MBT55 Microbial Consortium &amp; Carbon Cycle Reconstruction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88920" cy="59436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Aerobic 55%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63240" y="777240"/>
            <a:ext cx="2286000" cy="5943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7772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Anaerobic 45%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Mimics the natural redox balance of soil ecosystems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2011680" cy="137160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7190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Decomposers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404872"/>
            <a:ext cx="20116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subtilis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Paenibacillus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719072"/>
            <a:ext cx="2011680" cy="1371600"/>
          </a:xfrm>
          <a:prstGeom prst="rect">
            <a:avLst/>
          </a:prstGeom>
          <a:solidFill>
            <a:srgbClr val="4A674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68880" y="17190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Decomposers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404872"/>
            <a:ext cx="20116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Pseudomonas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licheniformis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719072"/>
            <a:ext cx="2011680" cy="1371600"/>
          </a:xfrm>
          <a:prstGeom prst="rect">
            <a:avLst/>
          </a:prstGeom>
          <a:solidFill>
            <a:srgbClr val="8B691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17190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Cellulose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Decomposers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404872"/>
            <a:ext cx="20116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Cellulomonas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Streptomyces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1719072"/>
            <a:ext cx="2011680" cy="137160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17190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N-Fixing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Bacteria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2404872"/>
            <a:ext cx="20116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Azotobacter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Rhizobium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246120"/>
            <a:ext cx="8595360" cy="27432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246120"/>
            <a:ext cx="859536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9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M³-BioSynergy System  (M-Cube BioSynergy System)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35661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9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152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Microbial Symbiotic Network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3977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relationship formed by 120 species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356616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00400" y="35661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9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65760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Cascade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0" y="3977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Substrates decomposed in stages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356616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26480" y="35661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9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58368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Hyper-cycle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83680" y="3977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Self-circulating dynamic equilibrium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Equations: Electron Flow &amp; SOC Formation Model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Carbon Fixation Ratio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515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 = λ × Ed / (Ed + Km)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max fixation rate   |   Ed = electron donor generation efficiency   |   Km = electron saturation constant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8595360" cy="274320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48840"/>
            <a:ext cx="8595360" cy="274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 Formation Model (Differential Equation)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2316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423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2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dCs/dt = I - kd·Cs + fm(MBT55)·η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4320" y="29718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= soil organic carbon (t-C/ha)   |   fm(MBT55) = carbon stabilization function (0–1)   |   η = electron re-fixation efficiency (0.2–0.8)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474720"/>
            <a:ext cx="8595360" cy="100584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347472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1.8–2.6×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SOC accumulation rate vs. conventional compost
</a:t>
            </a:r>
            <a:pPr algn="ctr" indent="0" marL="0">
              <a:buNone/>
            </a:pPr>
            <a:r>
              <a:rPr lang="en-US" sz="10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Optimal: C/N ratio 20–25  |  Soil pH 6.5–7.2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MBT Sustainable Cycle — Eco-Economic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68580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772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fermentation &amp; decomposition in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</a:t>
            </a:r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generating useful metabolites for multiple applications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8595360" cy="77724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645920"/>
            <a:ext cx="2560320" cy="777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🌱  Biophysical Cycle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1645920"/>
            <a:ext cx="27432" cy="777240"/>
          </a:xfrm>
          <a:prstGeom prst="rect">
            <a:avLst/>
          </a:prstGeom>
          <a:solidFill>
            <a:srgbClr val="7A9E7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645920"/>
            <a:ext cx="585216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→ Decomposition → Regenerated Resources → Agriculture / Energy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560320"/>
            <a:ext cx="8595360" cy="77724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560320"/>
            <a:ext cx="2560320" cy="777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 Bio-Informatic Cycle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34640" y="2560320"/>
            <a:ext cx="27432" cy="777240"/>
          </a:xfrm>
          <a:prstGeom prst="rect">
            <a:avLst/>
          </a:prstGeom>
          <a:solidFill>
            <a:srgbClr val="7A9E71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2560320"/>
            <a:ext cx="585216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integration · Distributed data assimilation · Bio-Knowledge Graph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474720"/>
            <a:ext cx="8595360" cy="777240"/>
          </a:xfrm>
          <a:prstGeom prst="rect">
            <a:avLst/>
          </a:prstGeom>
          <a:solidFill>
            <a:srgbClr val="8B691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3474720"/>
            <a:ext cx="2560320" cy="777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 Eco-Financial Cycle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34640" y="3474720"/>
            <a:ext cx="27432" cy="777240"/>
          </a:xfrm>
          <a:prstGeom prst="rect">
            <a:avLst/>
          </a:prstGeom>
          <a:solidFill>
            <a:srgbClr val="7A9E71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926080" y="3474720"/>
            <a:ext cx="585216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credits · Green premiums · Regenerated fertilizer value quantification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E8E2D6"/>
          </a:solidFill>
          <a:ln w="12700">
            <a:solidFill>
              <a:srgbClr val="E8E2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MATERIALS:  Functional Compost  ·  Fermented Fertilizer  ·  Probiotics  ·  Functional Feed  ·  Medical Materials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Multi-Dimensional Impact Evaluation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011680" cy="141732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772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+116%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Formation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conventional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50592" y="777240"/>
            <a:ext cx="2011680" cy="141732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7772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50592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Absorption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50592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→ 2.4 t/ha/yr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26864" y="777240"/>
            <a:ext cx="2011680" cy="1417320"/>
          </a:xfrm>
          <a:prstGeom prst="rect">
            <a:avLst/>
          </a:prstGeom>
          <a:solidFill>
            <a:srgbClr val="8B691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7772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+21%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26864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Water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26864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fertility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03136" y="777240"/>
            <a:ext cx="2011680" cy="1417320"/>
          </a:xfrm>
          <a:prstGeom prst="rect">
            <a:avLst/>
          </a:prstGeom>
          <a:solidFill>
            <a:srgbClr val="4A674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03136" y="7772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2%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03136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Regen. Agriculture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03136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benchmark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4320" y="2377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ECONOMIC IMPACT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74320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274320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+32–48%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80160" y="2743200"/>
            <a:ext cx="27432" cy="685800"/>
          </a:xfrm>
          <a:prstGeom prst="rect">
            <a:avLst/>
          </a:prstGeom>
          <a:solidFill>
            <a:srgbClr val="E8E2D6"/>
          </a:solidFill>
          <a:ln/>
        </p:spPr>
      </p:sp>
      <p:sp>
        <p:nvSpPr>
          <p:cNvPr id="25" name="Text 23"/>
          <p:cNvSpPr/>
          <p:nvPr/>
        </p:nvSpPr>
        <p:spPr>
          <a:xfrm>
            <a:off x="1353312" y="2743200"/>
            <a:ext cx="30175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Improvement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353312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Intestinal environment improvement via MBT-derived probiotics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74320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274320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820/yr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669280" y="2743200"/>
            <a:ext cx="27432" cy="685800"/>
          </a:xfrm>
          <a:prstGeom prst="rect">
            <a:avLst/>
          </a:prstGeom>
          <a:solidFill>
            <a:srgbClr val="E8E2D6"/>
          </a:solidFill>
          <a:ln/>
        </p:spPr>
      </p:sp>
      <p:sp>
        <p:nvSpPr>
          <p:cNvPr id="30" name="Text 28"/>
          <p:cNvSpPr/>
          <p:nvPr/>
        </p:nvSpPr>
        <p:spPr>
          <a:xfrm>
            <a:off x="5742432" y="2743200"/>
            <a:ext cx="30175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Creation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742432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pilot district in Kenya (42% women &amp; youth)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52044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4320" y="352044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$120/yr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280160" y="3520440"/>
            <a:ext cx="27432" cy="685800"/>
          </a:xfrm>
          <a:prstGeom prst="rect">
            <a:avLst/>
          </a:prstGeom>
          <a:solidFill>
            <a:srgbClr val="E8E2D6"/>
          </a:solidFill>
          <a:ln/>
        </p:spPr>
      </p:sp>
      <p:sp>
        <p:nvSpPr>
          <p:cNvPr id="35" name="Text 33"/>
          <p:cNvSpPr/>
          <p:nvPr/>
        </p:nvSpPr>
        <p:spPr>
          <a:xfrm>
            <a:off x="1353312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Cost Reduction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353312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person estimated savings in target regions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52044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63440" y="352044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+2.8%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669280" y="3520440"/>
            <a:ext cx="27432" cy="685800"/>
          </a:xfrm>
          <a:prstGeom prst="rect">
            <a:avLst/>
          </a:prstGeom>
          <a:solidFill>
            <a:srgbClr val="E8E2D6"/>
          </a:solidFill>
          <a:ln/>
        </p:spPr>
      </p:sp>
      <p:sp>
        <p:nvSpPr>
          <p:cNvPr id="40" name="Text 38"/>
          <p:cNvSpPr/>
          <p:nvPr/>
        </p:nvSpPr>
        <p:spPr>
          <a:xfrm>
            <a:off x="5742432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Contribution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742432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gross product including multiplier effect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370832"/>
            <a:ext cx="8595360" cy="594360"/>
          </a:xfrm>
          <a:prstGeom prst="rect">
            <a:avLst/>
          </a:prstGeom>
          <a:solidFill>
            <a:srgbClr val="1C2B1E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37083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Index (SI):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 / 1.0  </a:t>
            </a:r>
            <a:pPr algn="ctr" indent="0" marL="0">
              <a:buNone/>
            </a:pPr>
            <a:r>
              <a:rPr lang="en-US" sz="11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International SDG average: 0.63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Implementation Roadmap — 5 Phases (2025–2050)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749808"/>
            <a:ext cx="822960" cy="822960"/>
          </a:xfrm>
          <a:prstGeom prst="ellipse">
            <a:avLst/>
          </a:prstGeom>
          <a:solidFill>
            <a:srgbClr val="7A9E71"/>
          </a:solidFill>
          <a:ln w="12700">
            <a:solidFill>
              <a:srgbClr val="7A9E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749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36192" y="1161288"/>
            <a:ext cx="502920" cy="0"/>
          </a:xfrm>
          <a:prstGeom prst="line">
            <a:avLst/>
          </a:prstGeom>
          <a:noFill/>
          <a:ln w="19050">
            <a:solidFill>
              <a:srgbClr val="7A9E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1645920" cy="640080"/>
          </a:xfrm>
          <a:prstGeom prst="rect">
            <a:avLst/>
          </a:prstGeom>
          <a:solidFill>
            <a:srgbClr val="7A9E7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Foundation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60604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coefficient ±0.03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carbon market registrations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23160" y="749808"/>
            <a:ext cx="822960" cy="822960"/>
          </a:xfrm>
          <a:prstGeom prst="ellipse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749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273552" y="1161288"/>
            <a:ext cx="502920" cy="0"/>
          </a:xfrm>
          <a:prstGeom prst="line">
            <a:avLst/>
          </a:prstGeom>
          <a:noFill/>
          <a:ln w="19050">
            <a:solidFill>
              <a:srgbClr val="7A9E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2026–28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11680" y="1920240"/>
            <a:ext cx="1645920" cy="64008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1168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Pilot: Kenya, Rwanda, India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11680" y="260604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ha · 84,000 t-CO₂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jobs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60520" y="749808"/>
            <a:ext cx="822960" cy="822960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749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010912" y="1161288"/>
            <a:ext cx="502920" cy="0"/>
          </a:xfrm>
          <a:prstGeom prst="line">
            <a:avLst/>
          </a:prstGeom>
          <a:noFill/>
          <a:ln w="19050">
            <a:solidFill>
              <a:srgbClr val="7A9E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2028–30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49040" y="1920240"/>
            <a:ext cx="1645920" cy="640080"/>
          </a:xfrm>
          <a:prstGeom prst="rect">
            <a:avLst/>
          </a:prstGeom>
          <a:solidFill>
            <a:srgbClr val="4A674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4904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Int'l Standardization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49040" y="260604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Loop Bond certified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4.5–6% yield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897880" y="749808"/>
            <a:ext cx="822960" cy="82296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749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748272" y="1161288"/>
            <a:ext cx="502920" cy="0"/>
          </a:xfrm>
          <a:prstGeom prst="line">
            <a:avLst/>
          </a:prstGeom>
          <a:noFill/>
          <a:ln w="19050">
            <a:solidFill>
              <a:srgbClr val="7A9E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2030–35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0" y="1920240"/>
            <a:ext cx="1645920" cy="640080"/>
          </a:xfrm>
          <a:prstGeom prst="rect">
            <a:avLst/>
          </a:prstGeom>
          <a:solidFill>
            <a:srgbClr val="8B691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Management Network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0" y="260604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Microbial Brain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98%+ platform uptime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635240" y="749808"/>
            <a:ext cx="822960" cy="822960"/>
          </a:xfrm>
          <a:prstGeom prst="ellipse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35240" y="749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22376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2035–50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23760" y="1920240"/>
            <a:ext cx="1645920" cy="64008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22376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Expansion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223760" y="260604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 t-CO₂/yr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countries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3703320"/>
            <a:ext cx="8595360" cy="123444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74320" y="3703320"/>
            <a:ext cx="8595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7A9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"From Net Zero to Bio-Positive"
</a:t>
            </a:r>
            <a:pPr algn="ctr"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MBT Sustainable Cycle = Microbial Intelligence × Social Intelligence × Artificial Intelligence
</a:t>
            </a:r>
            <a:pPr algn="ctr" indent="0" marL="0">
              <a:buNone/>
            </a:pPr>
            <a:r>
              <a:rPr lang="en-US" sz="1000" i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Carbon Negative + Health Positive Society by 2050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D5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Path to a
</a:t>
            </a:r>
            <a:pPr indent="0" marL="0">
              <a:buNone/>
            </a:pPr>
            <a:r>
              <a:rPr lang="en-US" sz="3000" b="1" i="1" dirty="0">
                <a:solidFill>
                  <a:srgbClr val="7A9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"Civilization That Circulates Life"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Carbon Negative   —   100 million t-CO₂/year removed by 2050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Health Positive   —   Global disease prevention via gut microbiome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💹  Circular Economy   —   Carbon Loop Bonds · Green premiums · Life Activity Credits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github.com/shimojok/mbt55-climate-overview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Change &amp; Scientific Potential of MBT55</dc:title>
  <dc:subject>PptxGenJS Presentation</dc:subject>
  <dc:creator>MBT55 Research</dc:creator>
  <cp:lastModifiedBy>MBT55 Research</cp:lastModifiedBy>
  <cp:revision>1</cp:revision>
  <dcterms:created xsi:type="dcterms:W3CDTF">2026-02-27T06:23:28Z</dcterms:created>
  <dcterms:modified xsi:type="dcterms:W3CDTF">2026-02-27T06:23:28Z</dcterms:modified>
</cp:coreProperties>
</file>